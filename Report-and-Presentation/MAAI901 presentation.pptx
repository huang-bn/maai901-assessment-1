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70" r:id="rId6"/>
    <p:sldId id="271" r:id="rId7"/>
    <p:sldId id="272" r:id="rId8"/>
    <p:sldId id="273" r:id="rId9"/>
    <p:sldId id="274" r:id="rId10"/>
    <p:sldId id="269" r:id="rId11"/>
  </p:sldIdLst>
  <p:sldSz cx="18288000" cy="10287000"/>
  <p:notesSz cx="6858000" cy="9144000"/>
  <p:embeddedFontLst>
    <p:embeddedFont>
      <p:font typeface="Open Sauce" pitchFamily="2" charset="77"/>
      <p:regular r:id="rId13"/>
    </p:embeddedFont>
    <p:embeddedFont>
      <p:font typeface="Open Sauce Bold" pitchFamily="2" charset="77"/>
      <p:regular r:id="rId14"/>
      <p:bold r:id="rId15"/>
    </p:embeddedFont>
    <p:embeddedFont>
      <p:font typeface="Open Sauce Heavy" pitchFamily="2" charset="77"/>
      <p:regular r:id="rId16"/>
      <p:bold r:id="rId17"/>
    </p:embeddedFont>
    <p:embeddedFont>
      <p:font typeface="Open Sauce Light" pitchFamily="2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 autoAdjust="0"/>
    <p:restoredTop sz="89068" autoAdjust="0"/>
  </p:normalViewPr>
  <p:slideViewPr>
    <p:cSldViewPr>
      <p:cViewPr>
        <p:scale>
          <a:sx n="44" d="100"/>
          <a:sy n="44" d="100"/>
        </p:scale>
        <p:origin x="2264" y="8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A10EC-E12F-A741-840F-E4590F330AE4}" type="datetimeFigureOut">
              <a:rPr lang="en-AE" smtClean="0"/>
              <a:t>25/10/2026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92C3D-65DD-E148-833E-BD73DC0378D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5824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evening. I'm Bin Huang, and for my Applied Vision Transformer Report I compared a Vision Transformer against a ResNet-50 baseline on a brain tumor MRI classification task. I’ll be walking you through the problem, what I built, and more importantly what went wrong and what that tells us.</a:t>
            </a:r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92C3D-65DD-E148-833E-BD73DC0378DE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239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task is four-way classification of brain MRI slices: glioma, meningioma, pituitary tumor, and a 'no tumor' control. The dataset is 7,200 images, perfectly balanced at 1,800 per class, which I split 80/10/10, stratified, with a fixed seed.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picked this task because the risk is asymmetric. A false negative — telling a patient with a glioma that they're healthy — is catastrophic. A false positive is just a second scan. That asymmetry is the whole reason I chose to evaluate on recall and the confusion matrix, not just accuracy.</a:t>
            </a:r>
          </a:p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92C3D-65DD-E148-833E-BD73DC0378DE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38409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compared two models. The baseline is ResNet-50, pretrained on ImageNet-1k. The main model is ViT-B/16, specifically the 21k-pretrained checkpoint, which treats the image as 196 patches and uses self-attention from the first layer.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both, I replaced the classification head with a 4-class linear layer and trained on the same stratified split. The training setup was AdamW — learning rate 1e-4 for ResNet and 2e-5 for ViT, deliberately lower to avoid catastrophic forgetting — mixed precision on a Colab T4, and early stopping on validation accuracy.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interesting part of training was the speed. ResNet hit 95% validation accuracy in the first epoch; ViT started at 92% and caught up by epoch 8. But ViT took almost twice as long per epoch — 51 seconds versus 29.</a:t>
            </a:r>
          </a:p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92C3D-65DD-E148-833E-BD73DC0378DE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29333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 the headline: both models scored exactly the same. 98.33% accuracy, 0.9834 macro-F1, twelve errors out of 720 test images. If I'd stopped here, the conclusion would be 'the architectures are equally effective.'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 rubric — and the medical context — says accuracy isn't the metric that matters. So I broke the errors down by class, and that's where the two models diverge.</a:t>
            </a:r>
          </a:p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92C3D-65DD-E148-833E-BD73DC0378DE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3519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02B63-C158-45A1-57E7-7EBCC767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A2AD2-F61A-5FE9-8836-0DCF9BA13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15201-7D7D-6B1A-8406-4D223EBAD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 the headline: both models scored exactly the same. 98.33% accuracy, 0.9834 macro-F1, twelve errors out of 720 test images. If I'd stopped here, the conclusion would be 'the architectures are equally effective.'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 rubric — and the medical context — says accuracy isn't the metric that matters. So I broke the errors down by class, and that's where the two models diverge.</a:t>
            </a:r>
          </a:p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2C59D-F9E0-7A26-E8B4-6EF5B9440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92C3D-65DD-E148-833E-BD73DC0378DE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3628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6419-29CD-45C5-042E-9BCEE1FFD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93F5F-F772-1F02-1CEE-685A77AF7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CF365-82DA-7157-CB69-3F3F9454A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things matter here. First, the error profiles are not identical. ResNet missed 3 actual tumors by predicting 'no tumor' — 2 meningiomas and 1 pituitary. ViT missed 2 — 1 glioma and 1 pituitary. So on the metric that matters most clinically, the ViT is marginally safer.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the attention rollout tells a less flattering story. Here's a glioma the ViT classified correctly. The heatmap is red on the outer edge of the skull and the background — not on the tumor. The model is right, but it's right for the wrong reason. It's using the shape of the head and the image border as a shortcut, not the pathology. That's a bias in how it learned, and it's visible in the rollout.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there's a third finding I want to mention: both models made 5 confident-wrong errors, but zero of those were confident false negatives. That's actually the most clinically useful result in the project — it means a hospital could flag low-confidence 'no tumor' predictions and defer them to a radiologist.</a:t>
            </a:r>
          </a:p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7D6AA-7D9D-7B61-6D70-3AFCC0511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92C3D-65DD-E148-833E-BD73DC0378DE}" type="slidenum">
              <a:rPr lang="en-AE" smtClean="0"/>
              <a:t>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65161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important thing I found is actually an ethical problem, not a technical one. The Kaggle dataset gives 2D slices with no patient identifiers. Because I split at the image level, contiguous slices from the same patient's scan almost certainly ended up in both training and test sets. That means the 98.33% is inflated — the models are partly memorising patient anatomy. The attention rollout is the visual proof.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there's no metadata — no age, no sex, no ethnicity, no scanner information. I can't run a fairness audit, and deploying an unaudited model risks amplifying existing biases.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automation bias. If a tool says 98%, doctors may second-guess their own judgment. Combined with confident-wrong errors, that's a real hazard. My recommendation is that this is a triage aid only, never autonomous — any low-confidence 'no tumor' prediction must go to a radiologist.</a:t>
            </a:r>
          </a:p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92C3D-65DD-E148-833E-BD73DC0378DE}" type="slidenum">
              <a:rPr lang="en-AE" smtClean="0"/>
              <a:t>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01661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C9831-A77D-5FB5-8374-9E8F6C67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F0185-E486-B67A-2E4F-1DA3D5B7C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0D1F4-E44A-F143-BBA2-93D051340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conclusion is three things. First, accuracy alone doesn't answer the question — the ViT ties ResNet-50 at 98.33%, but the error profiles differ, and on false negatives the ViT is marginally safer.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attention rollout reveals shortcut learning. The ViT is looking at the skull, not the tumor.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neither model is ready to deploy. Patient-level splits, metadata, and a fairness audit are prerequisites.</a:t>
            </a:r>
          </a:p>
          <a:p>
            <a:r>
              <a:rPr lang="en-A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important takeaway is that a 98% score is not the interesting part of a medical AI project — the interesting part is what the model gets wrong, and why. Thank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5C37F-1C60-815F-C061-365F41C47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992C3D-65DD-E148-833E-BD73DC0378DE}" type="slidenum">
              <a:rPr kumimoji="0" lang="en-A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198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7201">
            <a:off x="8302125" y="-801031"/>
            <a:ext cx="12791303" cy="9442307"/>
          </a:xfrm>
          <a:custGeom>
            <a:avLst/>
            <a:gdLst/>
            <a:ahLst/>
            <a:cxnLst/>
            <a:rect l="l" t="t" r="r" b="b"/>
            <a:pathLst>
              <a:path w="12791303" h="9442307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Freeform 3"/>
          <p:cNvSpPr/>
          <p:nvPr/>
        </p:nvSpPr>
        <p:spPr>
          <a:xfrm rot="-10659522">
            <a:off x="-1466084" y="-1104127"/>
            <a:ext cx="6017764" cy="3599717"/>
          </a:xfrm>
          <a:custGeom>
            <a:avLst/>
            <a:gdLst/>
            <a:ahLst/>
            <a:cxnLst/>
            <a:rect l="l" t="t" r="r" b="b"/>
            <a:pathLst>
              <a:path w="6017764" h="3599717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Freeform 4"/>
          <p:cNvSpPr/>
          <p:nvPr/>
        </p:nvSpPr>
        <p:spPr>
          <a:xfrm>
            <a:off x="-924022" y="5188961"/>
            <a:ext cx="4716981" cy="6251420"/>
          </a:xfrm>
          <a:custGeom>
            <a:avLst/>
            <a:gdLst/>
            <a:ahLst/>
            <a:cxnLst/>
            <a:rect l="l" t="t" r="r" b="b"/>
            <a:pathLst>
              <a:path w="4716981" h="6251420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TextBox 5"/>
          <p:cNvSpPr txBox="1"/>
          <p:nvPr/>
        </p:nvSpPr>
        <p:spPr>
          <a:xfrm>
            <a:off x="1028700" y="5637004"/>
            <a:ext cx="13017405" cy="400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15"/>
              </a:lnSpc>
            </a:pPr>
            <a:r>
              <a:rPr lang="en-US" sz="11510" b="1" spc="-541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Brain Tumor MRI Classification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610125" y="8807211"/>
            <a:ext cx="498714" cy="49871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4242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045163" y="1480091"/>
            <a:ext cx="16214137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0" name="Freeform 10"/>
          <p:cNvSpPr/>
          <p:nvPr/>
        </p:nvSpPr>
        <p:spPr>
          <a:xfrm>
            <a:off x="953566" y="647822"/>
            <a:ext cx="644940" cy="644940"/>
          </a:xfrm>
          <a:custGeom>
            <a:avLst/>
            <a:gdLst/>
            <a:ahLst/>
            <a:cxnLst/>
            <a:rect l="l" t="t" r="r" b="b"/>
            <a:pathLst>
              <a:path w="644940" h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1" name="TextBox 11"/>
          <p:cNvSpPr txBox="1"/>
          <p:nvPr/>
        </p:nvSpPr>
        <p:spPr>
          <a:xfrm>
            <a:off x="1675526" y="650408"/>
            <a:ext cx="6365971" cy="587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b="1" spc="-163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Deep Learning for Visual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89987" y="8765484"/>
            <a:ext cx="3803246" cy="538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600" spc="-201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ViT vs. ResNet-50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09146" y="622579"/>
            <a:ext cx="3450154" cy="28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68"/>
              </a:lnSpc>
            </a:pPr>
            <a:r>
              <a:rPr lang="en-US" sz="1800" b="1" spc="-10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09146" y="920227"/>
            <a:ext cx="3450154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spc="-112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Bin Huang - 8391865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24022" y="5188961"/>
            <a:ext cx="4716981" cy="6251420"/>
          </a:xfrm>
          <a:custGeom>
            <a:avLst/>
            <a:gdLst/>
            <a:ahLst/>
            <a:cxnLst/>
            <a:rect l="l" t="t" r="r" b="b"/>
            <a:pathLst>
              <a:path w="4716981" h="6251420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Freeform 3"/>
          <p:cNvSpPr/>
          <p:nvPr/>
        </p:nvSpPr>
        <p:spPr>
          <a:xfrm rot="1925852">
            <a:off x="-2330235" y="2657262"/>
            <a:ext cx="9386678" cy="10557613"/>
          </a:xfrm>
          <a:custGeom>
            <a:avLst/>
            <a:gdLst/>
            <a:ahLst/>
            <a:cxnLst/>
            <a:rect l="l" t="t" r="r" b="b"/>
            <a:pathLst>
              <a:path w="9386678" h="10557613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Freeform 4"/>
          <p:cNvSpPr/>
          <p:nvPr/>
        </p:nvSpPr>
        <p:spPr>
          <a:xfrm>
            <a:off x="953566" y="647822"/>
            <a:ext cx="644940" cy="644940"/>
          </a:xfrm>
          <a:custGeom>
            <a:avLst/>
            <a:gdLst/>
            <a:ahLst/>
            <a:cxnLst/>
            <a:rect l="l" t="t" r="r" b="b"/>
            <a:pathLst>
              <a:path w="644940" h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Freeform 5"/>
          <p:cNvSpPr/>
          <p:nvPr/>
        </p:nvSpPr>
        <p:spPr>
          <a:xfrm>
            <a:off x="10343327" y="-1437860"/>
            <a:ext cx="12858845" cy="4933121"/>
          </a:xfrm>
          <a:custGeom>
            <a:avLst/>
            <a:gdLst/>
            <a:ahLst/>
            <a:cxnLst/>
            <a:rect l="l" t="t" r="r" b="b"/>
            <a:pathLst>
              <a:path w="12858845" h="4933121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6" name="Group 6"/>
          <p:cNvGrpSpPr/>
          <p:nvPr/>
        </p:nvGrpSpPr>
        <p:grpSpPr>
          <a:xfrm>
            <a:off x="9268724" y="-1996491"/>
            <a:ext cx="8120948" cy="416274"/>
            <a:chOff x="0" y="-28575"/>
            <a:chExt cx="2138850" cy="109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38850" cy="3703834"/>
            </a:xfrm>
            <a:custGeom>
              <a:avLst/>
              <a:gdLst/>
              <a:ahLst/>
              <a:cxnLst/>
              <a:rect l="l" t="t" r="r" b="b"/>
              <a:pathLst>
                <a:path w="2138850" h="3703833">
                  <a:moveTo>
                    <a:pt x="38133" y="0"/>
                  </a:moveTo>
                  <a:lnTo>
                    <a:pt x="2100717" y="0"/>
                  </a:lnTo>
                  <a:cubicBezTo>
                    <a:pt x="2110831" y="0"/>
                    <a:pt x="2120530" y="4018"/>
                    <a:pt x="2127682" y="11169"/>
                  </a:cubicBezTo>
                  <a:cubicBezTo>
                    <a:pt x="2134833" y="18320"/>
                    <a:pt x="2138850" y="28020"/>
                    <a:pt x="2138850" y="38133"/>
                  </a:cubicBezTo>
                  <a:lnTo>
                    <a:pt x="2138850" y="3665700"/>
                  </a:lnTo>
                  <a:cubicBezTo>
                    <a:pt x="2138850" y="3675813"/>
                    <a:pt x="2134833" y="3685513"/>
                    <a:pt x="2127682" y="3692664"/>
                  </a:cubicBezTo>
                  <a:cubicBezTo>
                    <a:pt x="2120530" y="3699815"/>
                    <a:pt x="2110831" y="3703833"/>
                    <a:pt x="2100717" y="3703833"/>
                  </a:cubicBezTo>
                  <a:lnTo>
                    <a:pt x="38133" y="3703833"/>
                  </a:lnTo>
                  <a:cubicBezTo>
                    <a:pt x="28020" y="3703833"/>
                    <a:pt x="18320" y="3699815"/>
                    <a:pt x="11169" y="3692664"/>
                  </a:cubicBezTo>
                  <a:cubicBezTo>
                    <a:pt x="4018" y="3685513"/>
                    <a:pt x="0" y="3675813"/>
                    <a:pt x="0" y="3665700"/>
                  </a:cubicBezTo>
                  <a:lnTo>
                    <a:pt x="0" y="38133"/>
                  </a:lnTo>
                  <a:cubicBezTo>
                    <a:pt x="0" y="28020"/>
                    <a:pt x="4018" y="18320"/>
                    <a:pt x="11169" y="11169"/>
                  </a:cubicBezTo>
                  <a:cubicBezTo>
                    <a:pt x="18320" y="4018"/>
                    <a:pt x="28020" y="0"/>
                    <a:pt x="38133" y="0"/>
                  </a:cubicBezTo>
                  <a:close/>
                </a:path>
              </a:pathLst>
            </a:cu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350"/>
                </a:lnSpc>
              </a:pPr>
              <a:endParaRPr lang="en-AE" sz="2500" spc="-117">
                <a:solidFill>
                  <a:srgbClr val="424242"/>
                </a:solidFill>
                <a:latin typeface="Open Sauce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38850" cy="3732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ts val="2350"/>
                </a:lnSpc>
                <a:defRPr sz="2500" spc="-117">
                  <a:solidFill>
                    <a:srgbClr val="424242"/>
                  </a:solidFill>
                  <a:latin typeface="Open Sauce"/>
                  <a:ea typeface="Open Sauce"/>
                  <a:cs typeface="Open Sauce"/>
                </a:defRPr>
              </a:lvl1pPr>
            </a:lstStyle>
            <a:p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6518917"/>
            <a:ext cx="7628749" cy="30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64"/>
              </a:lnSpc>
            </a:pPr>
            <a:r>
              <a:rPr lang="en-US" sz="12196" b="1" spc="-573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Today’s Agenda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5526" y="650408"/>
            <a:ext cx="6706474" cy="573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68"/>
              </a:lnSpc>
            </a:pPr>
            <a:r>
              <a:rPr lang="en-US" sz="3477" b="1" spc="-163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Deep Learning for Visual Data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95706" y="1596318"/>
            <a:ext cx="273977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b="1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The problem: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95706" y="2019300"/>
            <a:ext cx="5466983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Classify 4 classes of brain MRI: glioma, meningioma, pituitary, no tumor</a:t>
            </a:r>
          </a:p>
        </p:txBody>
      </p:sp>
      <p:sp>
        <p:nvSpPr>
          <p:cNvPr id="31" name="TextBox 27">
            <a:extLst>
              <a:ext uri="{FF2B5EF4-FFF2-40B4-BE49-F238E27FC236}">
                <a16:creationId xmlns:a16="http://schemas.microsoft.com/office/drawing/2014/main" id="{5FFDB6D7-F599-A90B-6EA0-24ADCB4A7031}"/>
              </a:ext>
            </a:extLst>
          </p:cNvPr>
          <p:cNvSpPr txBox="1"/>
          <p:nvPr/>
        </p:nvSpPr>
        <p:spPr>
          <a:xfrm>
            <a:off x="10589422" y="3138387"/>
            <a:ext cx="273977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b="1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The dataset:</a:t>
            </a:r>
          </a:p>
        </p:txBody>
      </p:sp>
      <p:sp>
        <p:nvSpPr>
          <p:cNvPr id="32" name="TextBox 28">
            <a:extLst>
              <a:ext uri="{FF2B5EF4-FFF2-40B4-BE49-F238E27FC236}">
                <a16:creationId xmlns:a16="http://schemas.microsoft.com/office/drawing/2014/main" id="{F574FF17-5C39-B9F6-BA29-B4E811859318}"/>
              </a:ext>
            </a:extLst>
          </p:cNvPr>
          <p:cNvSpPr txBox="1"/>
          <p:nvPr/>
        </p:nvSpPr>
        <p:spPr>
          <a:xfrm>
            <a:off x="10595706" y="3500412"/>
            <a:ext cx="571109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AE" sz="2500" spc="-117">
                <a:solidFill>
                  <a:srgbClr val="424242"/>
                </a:solidFill>
                <a:latin typeface="Open Sauce"/>
              </a:rPr>
              <a:t>Kaggle Brain Tumor MRI: 7,200 slices, perfectly balanced</a:t>
            </a:r>
            <a:endParaRPr lang="en-US" sz="2500" spc="-117">
              <a:solidFill>
                <a:srgbClr val="424242"/>
              </a:solidFill>
              <a:latin typeface="Open Sauce"/>
              <a:sym typeface="Open Sauce"/>
            </a:endParaRPr>
          </a:p>
        </p:txBody>
      </p:sp>
      <p:sp>
        <p:nvSpPr>
          <p:cNvPr id="33" name="TextBox 27">
            <a:extLst>
              <a:ext uri="{FF2B5EF4-FFF2-40B4-BE49-F238E27FC236}">
                <a16:creationId xmlns:a16="http://schemas.microsoft.com/office/drawing/2014/main" id="{3FD92E90-A2DB-462C-E23C-CBB5EA252BE4}"/>
              </a:ext>
            </a:extLst>
          </p:cNvPr>
          <p:cNvSpPr txBox="1"/>
          <p:nvPr/>
        </p:nvSpPr>
        <p:spPr>
          <a:xfrm>
            <a:off x="10583846" y="4781475"/>
            <a:ext cx="273977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b="1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Why it Matters:</a:t>
            </a: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30CBBACC-2F9C-22D5-AB11-EF2BC435C6B3}"/>
              </a:ext>
            </a:extLst>
          </p:cNvPr>
          <p:cNvSpPr txBox="1"/>
          <p:nvPr/>
        </p:nvSpPr>
        <p:spPr>
          <a:xfrm>
            <a:off x="10590130" y="5143500"/>
            <a:ext cx="571109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</a:rPr>
              <a:t>False negatives are catastrophic, false positives are a second scan</a:t>
            </a:r>
            <a:endParaRPr lang="en-US" sz="2500" spc="-117">
              <a:solidFill>
                <a:srgbClr val="424242"/>
              </a:solidFill>
              <a:latin typeface="Open Sauce"/>
              <a:sym typeface="Open Sauce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39393B0-D40A-40C4-3F8F-DE183481E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4199" y="6375466"/>
            <a:ext cx="4882564" cy="3664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 flipH="1">
            <a:off x="-1857044" y="5078656"/>
            <a:ext cx="9290530" cy="6858100"/>
          </a:xfrm>
          <a:custGeom>
            <a:avLst/>
            <a:gdLst/>
            <a:ahLst/>
            <a:cxnLst/>
            <a:rect l="l" t="t" r="r" b="b"/>
            <a:pathLst>
              <a:path w="9290530" h="6858100">
                <a:moveTo>
                  <a:pt x="9290530" y="0"/>
                </a:moveTo>
                <a:lnTo>
                  <a:pt x="0" y="0"/>
                </a:lnTo>
                <a:lnTo>
                  <a:pt x="0" y="6858101"/>
                </a:lnTo>
                <a:lnTo>
                  <a:pt x="9290530" y="6858101"/>
                </a:lnTo>
                <a:lnTo>
                  <a:pt x="929053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Freeform 3"/>
          <p:cNvSpPr/>
          <p:nvPr/>
        </p:nvSpPr>
        <p:spPr>
          <a:xfrm>
            <a:off x="953566" y="647822"/>
            <a:ext cx="644940" cy="644940"/>
          </a:xfrm>
          <a:custGeom>
            <a:avLst/>
            <a:gdLst/>
            <a:ahLst/>
            <a:cxnLst/>
            <a:rect l="l" t="t" r="r" b="b"/>
            <a:pathLst>
              <a:path w="644940" h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grpSp>
        <p:nvGrpSpPr>
          <p:cNvPr id="4" name="Group 4"/>
          <p:cNvGrpSpPr/>
          <p:nvPr/>
        </p:nvGrpSpPr>
        <p:grpSpPr>
          <a:xfrm>
            <a:off x="8592054" y="970292"/>
            <a:ext cx="8797534" cy="8385207"/>
            <a:chOff x="0" y="0"/>
            <a:chExt cx="2317046" cy="22084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17046" cy="2208450"/>
            </a:xfrm>
            <a:custGeom>
              <a:avLst/>
              <a:gdLst/>
              <a:ahLst/>
              <a:cxnLst/>
              <a:rect l="l" t="t" r="r" b="b"/>
              <a:pathLst>
                <a:path w="2317046" h="2208450">
                  <a:moveTo>
                    <a:pt x="81841" y="0"/>
                  </a:moveTo>
                  <a:lnTo>
                    <a:pt x="2235205" y="0"/>
                  </a:lnTo>
                  <a:cubicBezTo>
                    <a:pt x="2280405" y="0"/>
                    <a:pt x="2317046" y="36641"/>
                    <a:pt x="2317046" y="81841"/>
                  </a:cubicBezTo>
                  <a:lnTo>
                    <a:pt x="2317046" y="2126609"/>
                  </a:lnTo>
                  <a:cubicBezTo>
                    <a:pt x="2317046" y="2171808"/>
                    <a:pt x="2280405" y="2208450"/>
                    <a:pt x="2235205" y="2208450"/>
                  </a:cubicBezTo>
                  <a:lnTo>
                    <a:pt x="81841" y="2208450"/>
                  </a:lnTo>
                  <a:cubicBezTo>
                    <a:pt x="36641" y="2208450"/>
                    <a:pt x="0" y="2171808"/>
                    <a:pt x="0" y="2126609"/>
                  </a:cubicBezTo>
                  <a:lnTo>
                    <a:pt x="0" y="81841"/>
                  </a:lnTo>
                  <a:cubicBezTo>
                    <a:pt x="0" y="36641"/>
                    <a:pt x="36641" y="0"/>
                    <a:pt x="81841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317046" cy="2237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5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2237" y="6901468"/>
            <a:ext cx="6880469" cy="235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2"/>
              </a:lnSpc>
            </a:pPr>
            <a:r>
              <a:rPr lang="en-US" sz="9800" b="1" spc="-46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What </a:t>
            </a:r>
          </a:p>
          <a:p>
            <a:pPr algn="l">
              <a:lnSpc>
                <a:spcPts val="9212"/>
              </a:lnSpc>
            </a:pPr>
            <a:r>
              <a:rPr lang="en-US" sz="9800" b="1" spc="-46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 Built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5526" y="650408"/>
            <a:ext cx="6233643" cy="573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68"/>
              </a:lnSpc>
            </a:pPr>
            <a:r>
              <a:rPr lang="en-US" sz="3477" b="1" spc="-163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Deep Learning for Visual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08894" y="1481961"/>
            <a:ext cx="514050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600" b="1" spc="-12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Baseline: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99021" y="2973406"/>
            <a:ext cx="514050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600" b="1" spc="-12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Transformer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08894" y="2049217"/>
            <a:ext cx="4985294" cy="27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26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ResNet-50, ImageNet-1k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D7E3E6D7-E5F1-3FBB-AEC6-7332D05CF94E}"/>
              </a:ext>
            </a:extLst>
          </p:cNvPr>
          <p:cNvSpPr txBox="1"/>
          <p:nvPr/>
        </p:nvSpPr>
        <p:spPr>
          <a:xfrm>
            <a:off x="9134193" y="3528907"/>
            <a:ext cx="7619934" cy="268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26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ViT-B/16, google/vit-base-patch16-224-in21k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044995C7-F0C2-7EDB-5E7C-E1A696FD0594}"/>
              </a:ext>
            </a:extLst>
          </p:cNvPr>
          <p:cNvSpPr txBox="1"/>
          <p:nvPr/>
        </p:nvSpPr>
        <p:spPr>
          <a:xfrm>
            <a:off x="9135464" y="4439453"/>
            <a:ext cx="514050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600" b="1" spc="-12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Same head: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970F5AD9-F649-B1ED-781C-63EDF62598A3}"/>
              </a:ext>
            </a:extLst>
          </p:cNvPr>
          <p:cNvSpPr txBox="1"/>
          <p:nvPr/>
        </p:nvSpPr>
        <p:spPr>
          <a:xfrm>
            <a:off x="9170636" y="4994954"/>
            <a:ext cx="7619934" cy="268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26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4-class linear layer, trained from scratch</a:t>
            </a: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6D3B6ED3-DE4A-16BE-78D9-38E1B9D2C34D}"/>
              </a:ext>
            </a:extLst>
          </p:cNvPr>
          <p:cNvSpPr txBox="1"/>
          <p:nvPr/>
        </p:nvSpPr>
        <p:spPr>
          <a:xfrm>
            <a:off x="9098955" y="5905500"/>
            <a:ext cx="5140506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600" b="1" spc="-12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Same setup: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1145D03B-6F32-0CE2-7BF6-AF7833DA8200}"/>
              </a:ext>
            </a:extLst>
          </p:cNvPr>
          <p:cNvSpPr txBox="1"/>
          <p:nvPr/>
        </p:nvSpPr>
        <p:spPr>
          <a:xfrm>
            <a:off x="9134127" y="6461001"/>
            <a:ext cx="7619934" cy="268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26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Colab T4, mixed precision, AdamW, early stopping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7090" y="2231409"/>
            <a:ext cx="16714740" cy="10818995"/>
          </a:xfrm>
          <a:custGeom>
            <a:avLst/>
            <a:gdLst/>
            <a:ahLst/>
            <a:cxnLst/>
            <a:rect l="l" t="t" r="r" b="b"/>
            <a:pathLst>
              <a:path w="16714740" h="10818995">
                <a:moveTo>
                  <a:pt x="0" y="0"/>
                </a:moveTo>
                <a:lnTo>
                  <a:pt x="16714740" y="0"/>
                </a:lnTo>
                <a:lnTo>
                  <a:pt x="16714740" y="10818995"/>
                </a:lnTo>
                <a:lnTo>
                  <a:pt x="0" y="1081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TextBox 3"/>
          <p:cNvSpPr txBox="1"/>
          <p:nvPr/>
        </p:nvSpPr>
        <p:spPr>
          <a:xfrm>
            <a:off x="1028700" y="1057770"/>
            <a:ext cx="16230600" cy="264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307"/>
              </a:lnSpc>
            </a:pPr>
            <a:r>
              <a:rPr lang="en-US" sz="10965" b="1" spc="-51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The Headline Result</a:t>
            </a:r>
          </a:p>
          <a:p>
            <a:pPr>
              <a:lnSpc>
                <a:spcPts val="10307"/>
              </a:lnSpc>
            </a:pPr>
            <a:endParaRPr lang="en-US" sz="10965" b="1" spc="-515">
              <a:solidFill>
                <a:srgbClr val="424242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01975" y="3061729"/>
            <a:ext cx="7428904" cy="2998333"/>
            <a:chOff x="0" y="0"/>
            <a:chExt cx="1956584" cy="7896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6584" cy="789684"/>
            </a:xfrm>
            <a:custGeom>
              <a:avLst/>
              <a:gdLst/>
              <a:ahLst/>
              <a:cxnLst/>
              <a:rect l="l" t="t" r="r" b="b"/>
              <a:pathLst>
                <a:path w="1956584" h="789684">
                  <a:moveTo>
                    <a:pt x="68781" y="0"/>
                  </a:moveTo>
                  <a:lnTo>
                    <a:pt x="1887803" y="0"/>
                  </a:lnTo>
                  <a:cubicBezTo>
                    <a:pt x="1925790" y="0"/>
                    <a:pt x="1956584" y="30794"/>
                    <a:pt x="1956584" y="68781"/>
                  </a:cubicBezTo>
                  <a:lnTo>
                    <a:pt x="1956584" y="720904"/>
                  </a:lnTo>
                  <a:cubicBezTo>
                    <a:pt x="1956584" y="758890"/>
                    <a:pt x="1925790" y="789684"/>
                    <a:pt x="1887803" y="789684"/>
                  </a:cubicBezTo>
                  <a:lnTo>
                    <a:pt x="68781" y="789684"/>
                  </a:lnTo>
                  <a:cubicBezTo>
                    <a:pt x="30794" y="789684"/>
                    <a:pt x="0" y="758890"/>
                    <a:pt x="0" y="720904"/>
                  </a:cubicBezTo>
                  <a:lnTo>
                    <a:pt x="0" y="68781"/>
                  </a:lnTo>
                  <a:cubicBezTo>
                    <a:pt x="0" y="30794"/>
                    <a:pt x="30794" y="0"/>
                    <a:pt x="687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0CEFD">
                    <a:alpha val="100000"/>
                  </a:srgbClr>
                </a:gs>
                <a:gs pos="100000">
                  <a:srgbClr val="E4F2F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424242"/>
              </a:solidFill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956584" cy="818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77090" y="3256012"/>
            <a:ext cx="1154202" cy="804358"/>
            <a:chOff x="0" y="0"/>
            <a:chExt cx="303987" cy="2118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3987" cy="211847"/>
            </a:xfrm>
            <a:custGeom>
              <a:avLst/>
              <a:gdLst/>
              <a:ahLst/>
              <a:cxnLst/>
              <a:rect l="l" t="t" r="r" b="b"/>
              <a:pathLst>
                <a:path w="303987" h="211847">
                  <a:moveTo>
                    <a:pt x="105924" y="0"/>
                  </a:moveTo>
                  <a:lnTo>
                    <a:pt x="198064" y="0"/>
                  </a:lnTo>
                  <a:cubicBezTo>
                    <a:pt x="256564" y="0"/>
                    <a:pt x="303987" y="47424"/>
                    <a:pt x="303987" y="105924"/>
                  </a:cubicBezTo>
                  <a:lnTo>
                    <a:pt x="303987" y="105924"/>
                  </a:lnTo>
                  <a:cubicBezTo>
                    <a:pt x="303987" y="134016"/>
                    <a:pt x="292827" y="160958"/>
                    <a:pt x="272963" y="180823"/>
                  </a:cubicBezTo>
                  <a:cubicBezTo>
                    <a:pt x="253098" y="200687"/>
                    <a:pt x="226156" y="211847"/>
                    <a:pt x="198064" y="211847"/>
                  </a:cubicBezTo>
                  <a:lnTo>
                    <a:pt x="105924" y="211847"/>
                  </a:lnTo>
                  <a:cubicBezTo>
                    <a:pt x="77831" y="211847"/>
                    <a:pt x="50889" y="200687"/>
                    <a:pt x="31024" y="180823"/>
                  </a:cubicBezTo>
                  <a:cubicBezTo>
                    <a:pt x="11160" y="160958"/>
                    <a:pt x="0" y="134016"/>
                    <a:pt x="0" y="105924"/>
                  </a:cubicBezTo>
                  <a:lnTo>
                    <a:pt x="0" y="105924"/>
                  </a:lnTo>
                  <a:cubicBezTo>
                    <a:pt x="0" y="77831"/>
                    <a:pt x="11160" y="50889"/>
                    <a:pt x="31024" y="31024"/>
                  </a:cubicBezTo>
                  <a:cubicBezTo>
                    <a:pt x="50889" y="11160"/>
                    <a:pt x="77831" y="0"/>
                    <a:pt x="1059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303987" cy="240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84269" y="3061729"/>
            <a:ext cx="7428904" cy="2998333"/>
            <a:chOff x="0" y="0"/>
            <a:chExt cx="1956584" cy="7896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56584" cy="789684"/>
            </a:xfrm>
            <a:custGeom>
              <a:avLst/>
              <a:gdLst/>
              <a:ahLst/>
              <a:cxnLst/>
              <a:rect l="l" t="t" r="r" b="b"/>
              <a:pathLst>
                <a:path w="1956584" h="789684">
                  <a:moveTo>
                    <a:pt x="68781" y="0"/>
                  </a:moveTo>
                  <a:lnTo>
                    <a:pt x="1887803" y="0"/>
                  </a:lnTo>
                  <a:cubicBezTo>
                    <a:pt x="1925790" y="0"/>
                    <a:pt x="1956584" y="30794"/>
                    <a:pt x="1956584" y="68781"/>
                  </a:cubicBezTo>
                  <a:lnTo>
                    <a:pt x="1956584" y="720904"/>
                  </a:lnTo>
                  <a:cubicBezTo>
                    <a:pt x="1956584" y="758890"/>
                    <a:pt x="1925790" y="789684"/>
                    <a:pt x="1887803" y="789684"/>
                  </a:cubicBezTo>
                  <a:lnTo>
                    <a:pt x="68781" y="789684"/>
                  </a:lnTo>
                  <a:cubicBezTo>
                    <a:pt x="30794" y="789684"/>
                    <a:pt x="0" y="758890"/>
                    <a:pt x="0" y="720904"/>
                  </a:cubicBezTo>
                  <a:lnTo>
                    <a:pt x="0" y="68781"/>
                  </a:lnTo>
                  <a:cubicBezTo>
                    <a:pt x="0" y="30794"/>
                    <a:pt x="30794" y="0"/>
                    <a:pt x="68781" y="0"/>
                  </a:cubicBezTo>
                  <a:close/>
                </a:path>
              </a:pathLst>
            </a:custGeom>
            <a:solidFill>
              <a:srgbClr val="D0D7DD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956584" cy="8182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62075" y="3256012"/>
            <a:ext cx="1154202" cy="804358"/>
            <a:chOff x="0" y="0"/>
            <a:chExt cx="303987" cy="21184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3987" cy="211847"/>
            </a:xfrm>
            <a:custGeom>
              <a:avLst/>
              <a:gdLst/>
              <a:ahLst/>
              <a:cxnLst/>
              <a:rect l="l" t="t" r="r" b="b"/>
              <a:pathLst>
                <a:path w="303987" h="211847">
                  <a:moveTo>
                    <a:pt x="105924" y="0"/>
                  </a:moveTo>
                  <a:lnTo>
                    <a:pt x="198064" y="0"/>
                  </a:lnTo>
                  <a:cubicBezTo>
                    <a:pt x="256564" y="0"/>
                    <a:pt x="303987" y="47424"/>
                    <a:pt x="303987" y="105924"/>
                  </a:cubicBezTo>
                  <a:lnTo>
                    <a:pt x="303987" y="105924"/>
                  </a:lnTo>
                  <a:cubicBezTo>
                    <a:pt x="303987" y="134016"/>
                    <a:pt x="292827" y="160958"/>
                    <a:pt x="272963" y="180823"/>
                  </a:cubicBezTo>
                  <a:cubicBezTo>
                    <a:pt x="253098" y="200687"/>
                    <a:pt x="226156" y="211847"/>
                    <a:pt x="198064" y="211847"/>
                  </a:cubicBezTo>
                  <a:lnTo>
                    <a:pt x="105924" y="211847"/>
                  </a:lnTo>
                  <a:cubicBezTo>
                    <a:pt x="77831" y="211847"/>
                    <a:pt x="50889" y="200687"/>
                    <a:pt x="31024" y="180823"/>
                  </a:cubicBezTo>
                  <a:cubicBezTo>
                    <a:pt x="11160" y="160958"/>
                    <a:pt x="0" y="134016"/>
                    <a:pt x="0" y="105924"/>
                  </a:cubicBezTo>
                  <a:lnTo>
                    <a:pt x="0" y="105924"/>
                  </a:lnTo>
                  <a:cubicBezTo>
                    <a:pt x="0" y="77831"/>
                    <a:pt x="11160" y="50889"/>
                    <a:pt x="31024" y="31024"/>
                  </a:cubicBezTo>
                  <a:cubicBezTo>
                    <a:pt x="50889" y="11160"/>
                    <a:pt x="77831" y="0"/>
                    <a:pt x="1059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24242"/>
              </a:solidFill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303987" cy="240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5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214039" y="3484462"/>
            <a:ext cx="819524" cy="45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sz="3600" b="1" spc="-169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15600" y="3460643"/>
            <a:ext cx="4815344" cy="45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83"/>
              </a:lnSpc>
            </a:pPr>
            <a:r>
              <a:rPr lang="en-US" sz="3600" b="1" spc="-169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ViT-B/16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29054" y="3484462"/>
            <a:ext cx="819524" cy="45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sz="3600" b="1" spc="-169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01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63942" y="3460643"/>
            <a:ext cx="5549231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3600" b="1" spc="-169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ResNet-50, ImageNet-1k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663943" y="4132007"/>
            <a:ext cx="4815344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20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98.33% accuracy, 0.9834 macro-F1</a:t>
            </a:r>
            <a:br>
              <a:rPr lang="en-US" sz="20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</a:br>
            <a:r>
              <a:rPr lang="en-US" sz="20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12 errors each out of 720</a:t>
            </a:r>
          </a:p>
        </p:txBody>
      </p:sp>
      <p:sp>
        <p:nvSpPr>
          <p:cNvPr id="40" name="TextBox 37">
            <a:extLst>
              <a:ext uri="{FF2B5EF4-FFF2-40B4-BE49-F238E27FC236}">
                <a16:creationId xmlns:a16="http://schemas.microsoft.com/office/drawing/2014/main" id="{CDEDC407-395F-4E6B-B136-230DE983EEC0}"/>
              </a:ext>
            </a:extLst>
          </p:cNvPr>
          <p:cNvSpPr txBox="1"/>
          <p:nvPr/>
        </p:nvSpPr>
        <p:spPr>
          <a:xfrm>
            <a:off x="10515600" y="4060370"/>
            <a:ext cx="4815344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20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98.33% accuracy, 0.9834 macro-F1</a:t>
            </a:r>
            <a:br>
              <a:rPr lang="en-US" sz="20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</a:br>
            <a:r>
              <a:rPr lang="en-US" sz="2000" spc="-65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12 errors each out of 720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0E27F0-CD68-A80C-E713-D8B8FD154206}"/>
              </a:ext>
            </a:extLst>
          </p:cNvPr>
          <p:cNvSpPr/>
          <p:nvPr/>
        </p:nvSpPr>
        <p:spPr>
          <a:xfrm>
            <a:off x="2630615" y="4014333"/>
            <a:ext cx="950785" cy="407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073EE4E-516D-2428-EB03-A5DB4B9B150D}"/>
              </a:ext>
            </a:extLst>
          </p:cNvPr>
          <p:cNvSpPr/>
          <p:nvPr/>
        </p:nvSpPr>
        <p:spPr>
          <a:xfrm>
            <a:off x="10487250" y="3965760"/>
            <a:ext cx="950785" cy="407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FB2FB-A7F4-8BEA-BB58-90E3795C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720D97-3037-406E-DAC6-84EEAC2E81AE}"/>
              </a:ext>
            </a:extLst>
          </p:cNvPr>
          <p:cNvSpPr/>
          <p:nvPr/>
        </p:nvSpPr>
        <p:spPr>
          <a:xfrm>
            <a:off x="1177090" y="2231409"/>
            <a:ext cx="16714740" cy="10818995"/>
          </a:xfrm>
          <a:custGeom>
            <a:avLst/>
            <a:gdLst/>
            <a:ahLst/>
            <a:cxnLst/>
            <a:rect l="l" t="t" r="r" b="b"/>
            <a:pathLst>
              <a:path w="16714740" h="10818995">
                <a:moveTo>
                  <a:pt x="0" y="0"/>
                </a:moveTo>
                <a:lnTo>
                  <a:pt x="16714740" y="0"/>
                </a:lnTo>
                <a:lnTo>
                  <a:pt x="16714740" y="10818995"/>
                </a:lnTo>
                <a:lnTo>
                  <a:pt x="0" y="108189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F01228D-A736-D2EF-86E0-B8D4C8702C1B}"/>
              </a:ext>
            </a:extLst>
          </p:cNvPr>
          <p:cNvSpPr txBox="1"/>
          <p:nvPr/>
        </p:nvSpPr>
        <p:spPr>
          <a:xfrm>
            <a:off x="1028700" y="1057770"/>
            <a:ext cx="16230600" cy="264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307"/>
              </a:lnSpc>
            </a:pPr>
            <a:r>
              <a:rPr lang="en-US" sz="10965" b="1" spc="-51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The Headline Result</a:t>
            </a:r>
          </a:p>
          <a:p>
            <a:pPr>
              <a:lnSpc>
                <a:spcPts val="10307"/>
              </a:lnSpc>
            </a:pPr>
            <a:endParaRPr lang="en-US" sz="10965" b="1" spc="-515">
              <a:solidFill>
                <a:srgbClr val="424242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31F03A7-81DA-9A9C-3F9F-ABBFA7D12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212" y="2569734"/>
            <a:ext cx="7267575" cy="77172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2F98F6B-3DC3-86F3-2F92-3D0B51E63638}"/>
              </a:ext>
            </a:extLst>
          </p:cNvPr>
          <p:cNvSpPr/>
          <p:nvPr/>
        </p:nvSpPr>
        <p:spPr>
          <a:xfrm>
            <a:off x="10210800" y="9025725"/>
            <a:ext cx="950785" cy="407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BBAE34-B8B6-E790-7C35-6D2556A4AE9C}"/>
              </a:ext>
            </a:extLst>
          </p:cNvPr>
          <p:cNvSpPr/>
          <p:nvPr/>
        </p:nvSpPr>
        <p:spPr>
          <a:xfrm>
            <a:off x="10210799" y="5143500"/>
            <a:ext cx="950785" cy="407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922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24F2F-0EBD-E6C1-3C34-8212B25F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2A0532-D10F-1079-D1FE-83528AA85726}"/>
              </a:ext>
            </a:extLst>
          </p:cNvPr>
          <p:cNvSpPr/>
          <p:nvPr/>
        </p:nvSpPr>
        <p:spPr>
          <a:xfrm>
            <a:off x="1177090" y="2231409"/>
            <a:ext cx="16714740" cy="10818995"/>
          </a:xfrm>
          <a:custGeom>
            <a:avLst/>
            <a:gdLst/>
            <a:ahLst/>
            <a:cxnLst/>
            <a:rect l="l" t="t" r="r" b="b"/>
            <a:pathLst>
              <a:path w="16714740" h="10818995">
                <a:moveTo>
                  <a:pt x="0" y="0"/>
                </a:moveTo>
                <a:lnTo>
                  <a:pt x="16714740" y="0"/>
                </a:lnTo>
                <a:lnTo>
                  <a:pt x="16714740" y="10818995"/>
                </a:lnTo>
                <a:lnTo>
                  <a:pt x="0" y="108189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D949B59-D549-36E7-0FBE-D8E32C2B6439}"/>
              </a:ext>
            </a:extLst>
          </p:cNvPr>
          <p:cNvSpPr txBox="1"/>
          <p:nvPr/>
        </p:nvSpPr>
        <p:spPr>
          <a:xfrm>
            <a:off x="1028700" y="1057770"/>
            <a:ext cx="16230600" cy="264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307"/>
              </a:lnSpc>
            </a:pPr>
            <a:r>
              <a:rPr lang="en-US" sz="10965" b="1" spc="-51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The Headline Result</a:t>
            </a:r>
          </a:p>
          <a:p>
            <a:pPr>
              <a:lnSpc>
                <a:spcPts val="10307"/>
              </a:lnSpc>
            </a:pPr>
            <a:endParaRPr lang="en-US" sz="10965" b="1" spc="-515">
              <a:solidFill>
                <a:srgbClr val="424242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2454B-F0AF-9E6A-63B1-E6980B733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090" y="2552700"/>
            <a:ext cx="16309070" cy="685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98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8748E-9F00-988E-9B89-C30F183C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86AE2D7-E60C-66E2-331E-33607D4B868E}"/>
              </a:ext>
            </a:extLst>
          </p:cNvPr>
          <p:cNvSpPr/>
          <p:nvPr/>
        </p:nvSpPr>
        <p:spPr>
          <a:xfrm>
            <a:off x="1177090" y="2231409"/>
            <a:ext cx="16714740" cy="10818995"/>
          </a:xfrm>
          <a:custGeom>
            <a:avLst/>
            <a:gdLst/>
            <a:ahLst/>
            <a:cxnLst/>
            <a:rect l="l" t="t" r="r" b="b"/>
            <a:pathLst>
              <a:path w="16714740" h="10818995">
                <a:moveTo>
                  <a:pt x="0" y="0"/>
                </a:moveTo>
                <a:lnTo>
                  <a:pt x="16714740" y="0"/>
                </a:lnTo>
                <a:lnTo>
                  <a:pt x="16714740" y="10818995"/>
                </a:lnTo>
                <a:lnTo>
                  <a:pt x="0" y="108189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C47D5CB-9596-D2CC-22A1-63FC4B6B7E9B}"/>
              </a:ext>
            </a:extLst>
          </p:cNvPr>
          <p:cNvSpPr txBox="1"/>
          <p:nvPr/>
        </p:nvSpPr>
        <p:spPr>
          <a:xfrm>
            <a:off x="1028700" y="1057770"/>
            <a:ext cx="16230600" cy="264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307"/>
              </a:lnSpc>
            </a:pPr>
            <a:r>
              <a:rPr lang="en-US" sz="10965" b="1" spc="-51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Errors and Attention</a:t>
            </a:r>
          </a:p>
          <a:p>
            <a:pPr>
              <a:lnSpc>
                <a:spcPts val="10307"/>
              </a:lnSpc>
            </a:pPr>
            <a:endParaRPr lang="en-US" sz="10965" b="1" spc="-515">
              <a:solidFill>
                <a:srgbClr val="424242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9DF274-73CB-46DC-F725-18B92080A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2378644"/>
            <a:ext cx="7162800" cy="749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596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0D62F-148B-E63E-DF99-198B25AE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CB4192-236A-D9A9-78B5-240253CA426C}"/>
              </a:ext>
            </a:extLst>
          </p:cNvPr>
          <p:cNvSpPr/>
          <p:nvPr/>
        </p:nvSpPr>
        <p:spPr>
          <a:xfrm>
            <a:off x="1177090" y="2231409"/>
            <a:ext cx="16714740" cy="10818995"/>
          </a:xfrm>
          <a:custGeom>
            <a:avLst/>
            <a:gdLst/>
            <a:ahLst/>
            <a:cxnLst/>
            <a:rect l="l" t="t" r="r" b="b"/>
            <a:pathLst>
              <a:path w="16714740" h="10818995">
                <a:moveTo>
                  <a:pt x="0" y="0"/>
                </a:moveTo>
                <a:lnTo>
                  <a:pt x="16714740" y="0"/>
                </a:lnTo>
                <a:lnTo>
                  <a:pt x="16714740" y="10818995"/>
                </a:lnTo>
                <a:lnTo>
                  <a:pt x="0" y="108189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038B9DF-5AEE-CAFF-40E8-9E73EAFFD930}"/>
              </a:ext>
            </a:extLst>
          </p:cNvPr>
          <p:cNvSpPr txBox="1"/>
          <p:nvPr/>
        </p:nvSpPr>
        <p:spPr>
          <a:xfrm>
            <a:off x="1028700" y="1057770"/>
            <a:ext cx="16230600" cy="264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307"/>
              </a:lnSpc>
            </a:pPr>
            <a:r>
              <a:rPr lang="en-US" sz="10965" b="1" spc="-515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The Ethical Problem</a:t>
            </a:r>
          </a:p>
          <a:p>
            <a:pPr>
              <a:lnSpc>
                <a:spcPts val="10307"/>
              </a:lnSpc>
            </a:pPr>
            <a:endParaRPr lang="en-US" sz="10965" b="1" spc="-515">
              <a:solidFill>
                <a:srgbClr val="424242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0A294D5B-255F-06A5-E304-A4FEE0C50A31}"/>
              </a:ext>
            </a:extLst>
          </p:cNvPr>
          <p:cNvSpPr txBox="1"/>
          <p:nvPr/>
        </p:nvSpPr>
        <p:spPr>
          <a:xfrm>
            <a:off x="1177090" y="3276537"/>
            <a:ext cx="273977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b="1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Data Leakage:</a:t>
            </a: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C3AA56BB-E771-52BE-F31A-333EDE630C9E}"/>
              </a:ext>
            </a:extLst>
          </p:cNvPr>
          <p:cNvSpPr txBox="1"/>
          <p:nvPr/>
        </p:nvSpPr>
        <p:spPr>
          <a:xfrm>
            <a:off x="1177090" y="3699519"/>
            <a:ext cx="819551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image-level split, no patient IDs → 98.33% is inflated</a:t>
            </a: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EEA9B193-2B91-FCF6-C5C3-F2F8212DBA12}"/>
              </a:ext>
            </a:extLst>
          </p:cNvPr>
          <p:cNvSpPr txBox="1"/>
          <p:nvPr/>
        </p:nvSpPr>
        <p:spPr>
          <a:xfrm>
            <a:off x="1177090" y="4488941"/>
            <a:ext cx="568091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b="1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Demographic invisibility:</a:t>
            </a:r>
          </a:p>
        </p:txBody>
      </p:sp>
      <p:sp>
        <p:nvSpPr>
          <p:cNvPr id="19" name="TextBox 28">
            <a:extLst>
              <a:ext uri="{FF2B5EF4-FFF2-40B4-BE49-F238E27FC236}">
                <a16:creationId xmlns:a16="http://schemas.microsoft.com/office/drawing/2014/main" id="{81AC72CA-D41C-3D1A-9B85-32EDDBEE0015}"/>
              </a:ext>
            </a:extLst>
          </p:cNvPr>
          <p:cNvSpPr txBox="1"/>
          <p:nvPr/>
        </p:nvSpPr>
        <p:spPr>
          <a:xfrm>
            <a:off x="1177090" y="4911923"/>
            <a:ext cx="1238651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no age, gender, ethnicity, or scanner metadata → no fairness audit possible</a:t>
            </a:r>
          </a:p>
        </p:txBody>
      </p:sp>
      <p:sp>
        <p:nvSpPr>
          <p:cNvPr id="23" name="TextBox 27">
            <a:extLst>
              <a:ext uri="{FF2B5EF4-FFF2-40B4-BE49-F238E27FC236}">
                <a16:creationId xmlns:a16="http://schemas.microsoft.com/office/drawing/2014/main" id="{EDDBE87C-28A1-E123-33B8-3E92BF659C56}"/>
              </a:ext>
            </a:extLst>
          </p:cNvPr>
          <p:cNvSpPr txBox="1"/>
          <p:nvPr/>
        </p:nvSpPr>
        <p:spPr>
          <a:xfrm>
            <a:off x="1177090" y="5708141"/>
            <a:ext cx="568091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b="1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Automation bias: </a:t>
            </a:r>
          </a:p>
        </p:txBody>
      </p:sp>
      <p:sp>
        <p:nvSpPr>
          <p:cNvPr id="25" name="TextBox 28">
            <a:extLst>
              <a:ext uri="{FF2B5EF4-FFF2-40B4-BE49-F238E27FC236}">
                <a16:creationId xmlns:a16="http://schemas.microsoft.com/office/drawing/2014/main" id="{301CC359-7215-DF16-609F-97927729E668}"/>
              </a:ext>
            </a:extLst>
          </p:cNvPr>
          <p:cNvSpPr txBox="1"/>
          <p:nvPr/>
        </p:nvSpPr>
        <p:spPr>
          <a:xfrm>
            <a:off x="1177090" y="6131123"/>
            <a:ext cx="1238651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a 98% tool can make doctors second-guess themselves</a:t>
            </a:r>
          </a:p>
        </p:txBody>
      </p:sp>
      <p:sp>
        <p:nvSpPr>
          <p:cNvPr id="26" name="TextBox 27">
            <a:extLst>
              <a:ext uri="{FF2B5EF4-FFF2-40B4-BE49-F238E27FC236}">
                <a16:creationId xmlns:a16="http://schemas.microsoft.com/office/drawing/2014/main" id="{3D9A54EA-994E-E650-43E6-D7F6A0BF7289}"/>
              </a:ext>
            </a:extLst>
          </p:cNvPr>
          <p:cNvSpPr txBox="1"/>
          <p:nvPr/>
        </p:nvSpPr>
        <p:spPr>
          <a:xfrm>
            <a:off x="1177090" y="6952127"/>
            <a:ext cx="568091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b="1" spc="-117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Verdict:</a:t>
            </a:r>
          </a:p>
        </p:txBody>
      </p:sp>
      <p:sp>
        <p:nvSpPr>
          <p:cNvPr id="27" name="TextBox 28">
            <a:extLst>
              <a:ext uri="{FF2B5EF4-FFF2-40B4-BE49-F238E27FC236}">
                <a16:creationId xmlns:a16="http://schemas.microsoft.com/office/drawing/2014/main" id="{E39F16A6-A62A-98CE-BBFB-4F57D5508683}"/>
              </a:ext>
            </a:extLst>
          </p:cNvPr>
          <p:cNvSpPr txBox="1"/>
          <p:nvPr/>
        </p:nvSpPr>
        <p:spPr>
          <a:xfrm>
            <a:off x="1177090" y="7375109"/>
            <a:ext cx="1238651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lang="en-US" sz="2500" spc="-117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triage aid only, never autonomous</a:t>
            </a:r>
          </a:p>
        </p:txBody>
      </p:sp>
    </p:spTree>
    <p:extLst>
      <p:ext uri="{BB962C8B-B14F-4D97-AF65-F5344CB8AC3E}">
        <p14:creationId xmlns:p14="http://schemas.microsoft.com/office/powerpoint/2010/main" val="815570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92720-95AA-2A1C-95D3-09AE44DA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83E547-C9D1-FAC5-142E-8370070B4B1D}"/>
              </a:ext>
            </a:extLst>
          </p:cNvPr>
          <p:cNvSpPr/>
          <p:nvPr/>
        </p:nvSpPr>
        <p:spPr>
          <a:xfrm>
            <a:off x="-924022" y="5188961"/>
            <a:ext cx="4716981" cy="6251420"/>
          </a:xfrm>
          <a:custGeom>
            <a:avLst/>
            <a:gdLst/>
            <a:ahLst/>
            <a:cxnLst/>
            <a:rect l="l" t="t" r="r" b="b"/>
            <a:pathLst>
              <a:path w="4716981" h="6251420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1665D48-27B4-60E1-74B5-7AF0E216F987}"/>
              </a:ext>
            </a:extLst>
          </p:cNvPr>
          <p:cNvSpPr/>
          <p:nvPr/>
        </p:nvSpPr>
        <p:spPr>
          <a:xfrm rot="1925852">
            <a:off x="-2111571" y="2667368"/>
            <a:ext cx="9386678" cy="10557613"/>
          </a:xfrm>
          <a:custGeom>
            <a:avLst/>
            <a:gdLst/>
            <a:ahLst/>
            <a:cxnLst/>
            <a:rect l="l" t="t" r="r" b="b"/>
            <a:pathLst>
              <a:path w="9386678" h="10557613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C7545A6-A0E3-FB42-1E7E-E8907D39FD8A}"/>
              </a:ext>
            </a:extLst>
          </p:cNvPr>
          <p:cNvSpPr/>
          <p:nvPr/>
        </p:nvSpPr>
        <p:spPr>
          <a:xfrm>
            <a:off x="953566" y="647822"/>
            <a:ext cx="644940" cy="644940"/>
          </a:xfrm>
          <a:custGeom>
            <a:avLst/>
            <a:gdLst/>
            <a:ahLst/>
            <a:cxnLst/>
            <a:rect l="l" t="t" r="r" b="b"/>
            <a:pathLst>
              <a:path w="644940" h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6056B11-47F6-7A76-21B2-F5CE27748058}"/>
              </a:ext>
            </a:extLst>
          </p:cNvPr>
          <p:cNvSpPr/>
          <p:nvPr/>
        </p:nvSpPr>
        <p:spPr>
          <a:xfrm>
            <a:off x="10343327" y="-1437860"/>
            <a:ext cx="12858845" cy="4933121"/>
          </a:xfrm>
          <a:custGeom>
            <a:avLst/>
            <a:gdLst/>
            <a:ahLst/>
            <a:cxnLst/>
            <a:rect l="l" t="t" r="r" b="b"/>
            <a:pathLst>
              <a:path w="12858845" h="4933121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C251959-2E7C-61BE-9D11-A7FC38EB4882}"/>
              </a:ext>
            </a:extLst>
          </p:cNvPr>
          <p:cNvGrpSpPr/>
          <p:nvPr/>
        </p:nvGrpSpPr>
        <p:grpSpPr>
          <a:xfrm>
            <a:off x="9268724" y="-1996491"/>
            <a:ext cx="8120948" cy="416274"/>
            <a:chOff x="0" y="-28575"/>
            <a:chExt cx="2138850" cy="10963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3EBE9C0-E805-1624-24F5-A38F376AE3C9}"/>
                </a:ext>
              </a:extLst>
            </p:cNvPr>
            <p:cNvSpPr/>
            <p:nvPr/>
          </p:nvSpPr>
          <p:spPr>
            <a:xfrm>
              <a:off x="0" y="0"/>
              <a:ext cx="2138850" cy="3703834"/>
            </a:xfrm>
            <a:custGeom>
              <a:avLst/>
              <a:gdLst/>
              <a:ahLst/>
              <a:cxnLst/>
              <a:rect l="l" t="t" r="r" b="b"/>
              <a:pathLst>
                <a:path w="2138850" h="3703833">
                  <a:moveTo>
                    <a:pt x="38133" y="0"/>
                  </a:moveTo>
                  <a:lnTo>
                    <a:pt x="2100717" y="0"/>
                  </a:lnTo>
                  <a:cubicBezTo>
                    <a:pt x="2110831" y="0"/>
                    <a:pt x="2120530" y="4018"/>
                    <a:pt x="2127682" y="11169"/>
                  </a:cubicBezTo>
                  <a:cubicBezTo>
                    <a:pt x="2134833" y="18320"/>
                    <a:pt x="2138850" y="28020"/>
                    <a:pt x="2138850" y="38133"/>
                  </a:cubicBezTo>
                  <a:lnTo>
                    <a:pt x="2138850" y="3665700"/>
                  </a:lnTo>
                  <a:cubicBezTo>
                    <a:pt x="2138850" y="3675813"/>
                    <a:pt x="2134833" y="3685513"/>
                    <a:pt x="2127682" y="3692664"/>
                  </a:cubicBezTo>
                  <a:cubicBezTo>
                    <a:pt x="2120530" y="3699815"/>
                    <a:pt x="2110831" y="3703833"/>
                    <a:pt x="2100717" y="3703833"/>
                  </a:cubicBezTo>
                  <a:lnTo>
                    <a:pt x="38133" y="3703833"/>
                  </a:lnTo>
                  <a:cubicBezTo>
                    <a:pt x="28020" y="3703833"/>
                    <a:pt x="18320" y="3699815"/>
                    <a:pt x="11169" y="3692664"/>
                  </a:cubicBezTo>
                  <a:cubicBezTo>
                    <a:pt x="4018" y="3685513"/>
                    <a:pt x="0" y="3675813"/>
                    <a:pt x="0" y="3665700"/>
                  </a:cubicBezTo>
                  <a:lnTo>
                    <a:pt x="0" y="38133"/>
                  </a:lnTo>
                  <a:cubicBezTo>
                    <a:pt x="0" y="28020"/>
                    <a:pt x="4018" y="18320"/>
                    <a:pt x="11169" y="11169"/>
                  </a:cubicBezTo>
                  <a:cubicBezTo>
                    <a:pt x="18320" y="4018"/>
                    <a:pt x="28020" y="0"/>
                    <a:pt x="38133" y="0"/>
                  </a:cubicBezTo>
                  <a:close/>
                </a:path>
              </a:pathLst>
            </a:cu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3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E" sz="2500" b="0" i="0" u="none" strike="noStrike" kern="1200" cap="none" spc="-117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uce"/>
                <a:ea typeface="+mn-ea"/>
                <a:cs typeface="+mn-cs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7084E-47ED-A615-4343-0DD980A51CB9}"/>
                </a:ext>
              </a:extLst>
            </p:cNvPr>
            <p:cNvSpPr txBox="1"/>
            <p:nvPr/>
          </p:nvSpPr>
          <p:spPr>
            <a:xfrm>
              <a:off x="0" y="-28575"/>
              <a:ext cx="2138850" cy="3732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ts val="2350"/>
                </a:lnSpc>
                <a:defRPr sz="2500" spc="-117">
                  <a:solidFill>
                    <a:srgbClr val="424242"/>
                  </a:solidFill>
                  <a:latin typeface="Open Sauce"/>
                  <a:ea typeface="Open Sauce"/>
                  <a:cs typeface="Open Sauce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3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500" b="0" i="0" u="none" strike="noStrike" kern="1200" cap="none" spc="-117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uce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82140E1-387C-E759-2D9B-AA1BFC06CE2D}"/>
              </a:ext>
            </a:extLst>
          </p:cNvPr>
          <p:cNvSpPr txBox="1"/>
          <p:nvPr/>
        </p:nvSpPr>
        <p:spPr>
          <a:xfrm>
            <a:off x="1028700" y="7936068"/>
            <a:ext cx="8240024" cy="1474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14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196" b="1" i="0" u="none" strike="noStrike" kern="1200" cap="none" spc="-573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uce Heavy"/>
                <a:ea typeface="Open Sauce Heavy"/>
                <a:cs typeface="Open Sauce Heavy"/>
                <a:sym typeface="Open Sauce Heavy"/>
              </a:rPr>
              <a:t>Conclusion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AD19AFD-F6A0-9E2F-F7B8-B214375EFE69}"/>
              </a:ext>
            </a:extLst>
          </p:cNvPr>
          <p:cNvSpPr txBox="1"/>
          <p:nvPr/>
        </p:nvSpPr>
        <p:spPr>
          <a:xfrm>
            <a:off x="1675526" y="650408"/>
            <a:ext cx="6706474" cy="573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8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77" b="1" i="0" u="none" strike="noStrike" kern="1200" cap="none" spc="-163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uce Heavy"/>
                <a:ea typeface="Open Sauce Heavy"/>
                <a:cs typeface="Open Sauce Heavy"/>
                <a:sym typeface="Open Sauce Heavy"/>
              </a:rPr>
              <a:t>Deep Learning for Visual Data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F7403D9-9D0C-5AA0-0DFA-B530E15BE3D6}"/>
              </a:ext>
            </a:extLst>
          </p:cNvPr>
          <p:cNvSpPr txBox="1"/>
          <p:nvPr/>
        </p:nvSpPr>
        <p:spPr>
          <a:xfrm>
            <a:off x="10595706" y="1596318"/>
            <a:ext cx="632069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kumimoji="0" lang="en-US" sz="2500" b="1" i="0" u="none" strike="noStrike" kern="1200" cap="none" spc="-117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uce Heavy"/>
                <a:ea typeface="Open Sauce Heavy"/>
                <a:cs typeface="Open Sauce Heavy"/>
                <a:sym typeface="Open Sauce Heavy"/>
              </a:rPr>
              <a:t>Accuracy alone is not the story.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E305E75-B483-7458-3B87-7E58448354E1}"/>
              </a:ext>
            </a:extLst>
          </p:cNvPr>
          <p:cNvSpPr txBox="1"/>
          <p:nvPr/>
        </p:nvSpPr>
        <p:spPr>
          <a:xfrm>
            <a:off x="10595706" y="2019300"/>
            <a:ext cx="632069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kumimoji="0" lang="en-US" sz="2500" b="0" i="0" u="none" strike="noStrike" kern="1200" cap="none" spc="-117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ViT ties ResNet-50, but is marginally safer on false negatives.</a:t>
            </a:r>
          </a:p>
        </p:txBody>
      </p:sp>
      <p:sp>
        <p:nvSpPr>
          <p:cNvPr id="31" name="TextBox 27">
            <a:extLst>
              <a:ext uri="{FF2B5EF4-FFF2-40B4-BE49-F238E27FC236}">
                <a16:creationId xmlns:a16="http://schemas.microsoft.com/office/drawing/2014/main" id="{AA392CD0-08C0-34C0-8BFA-430653A70A0E}"/>
              </a:ext>
            </a:extLst>
          </p:cNvPr>
          <p:cNvSpPr txBox="1"/>
          <p:nvPr/>
        </p:nvSpPr>
        <p:spPr>
          <a:xfrm>
            <a:off x="10589422" y="3138387"/>
            <a:ext cx="617457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kumimoji="0" lang="en-US" sz="2500" b="1" i="0" u="none" strike="noStrike" kern="1200" cap="none" spc="-117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uce Heavy"/>
                <a:ea typeface="Open Sauce Heavy"/>
                <a:cs typeface="Open Sauce Heavy"/>
                <a:sym typeface="Open Sauce Heavy"/>
              </a:rPr>
              <a:t>Attention reveals shortcut learning.</a:t>
            </a:r>
          </a:p>
        </p:txBody>
      </p:sp>
      <p:sp>
        <p:nvSpPr>
          <p:cNvPr id="32" name="TextBox 28">
            <a:extLst>
              <a:ext uri="{FF2B5EF4-FFF2-40B4-BE49-F238E27FC236}">
                <a16:creationId xmlns:a16="http://schemas.microsoft.com/office/drawing/2014/main" id="{DFD52346-7CC7-FB4A-DA9E-58C7CBE8F5EE}"/>
              </a:ext>
            </a:extLst>
          </p:cNvPr>
          <p:cNvSpPr txBox="1"/>
          <p:nvPr/>
        </p:nvSpPr>
        <p:spPr>
          <a:xfrm>
            <a:off x="10595706" y="3500412"/>
            <a:ext cx="571109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kumimoji="0" lang="en-US" sz="2500" b="0" i="0" u="none" strike="noStrike" kern="1200" cap="none" spc="-117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uce"/>
                <a:ea typeface="+mn-ea"/>
                <a:cs typeface="+mn-cs"/>
              </a:rPr>
              <a:t>The ViT looks at skulls and backgrounds.</a:t>
            </a:r>
            <a:endParaRPr kumimoji="0" lang="en-US" sz="2500" b="0" i="0" u="none" strike="noStrike" kern="1200" cap="none" spc="-117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latin typeface="Open Sauce"/>
              <a:ea typeface="+mn-ea"/>
              <a:cs typeface="+mn-cs"/>
              <a:sym typeface="Open Sauce"/>
            </a:endParaRPr>
          </a:p>
        </p:txBody>
      </p:sp>
      <p:sp>
        <p:nvSpPr>
          <p:cNvPr id="33" name="TextBox 27">
            <a:extLst>
              <a:ext uri="{FF2B5EF4-FFF2-40B4-BE49-F238E27FC236}">
                <a16:creationId xmlns:a16="http://schemas.microsoft.com/office/drawing/2014/main" id="{AA1C9DD9-933E-AF04-F6E0-ABE7DCE29334}"/>
              </a:ext>
            </a:extLst>
          </p:cNvPr>
          <p:cNvSpPr txBox="1"/>
          <p:nvPr/>
        </p:nvSpPr>
        <p:spPr>
          <a:xfrm>
            <a:off x="10583846" y="4781475"/>
            <a:ext cx="480855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-117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uce Heavy"/>
                <a:ea typeface="Open Sauce Heavy"/>
                <a:cs typeface="Open Sauce Heavy"/>
                <a:sym typeface="Open Sauce Heavy"/>
              </a:rPr>
              <a:t>Neither model is deployable.</a:t>
            </a: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950C496B-2E63-EFC0-AA12-01AD74DB67D3}"/>
              </a:ext>
            </a:extLst>
          </p:cNvPr>
          <p:cNvSpPr txBox="1"/>
          <p:nvPr/>
        </p:nvSpPr>
        <p:spPr>
          <a:xfrm>
            <a:off x="10590130" y="5143500"/>
            <a:ext cx="571109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50"/>
              </a:lnSpc>
            </a:pPr>
            <a:r>
              <a:rPr kumimoji="0" lang="en-US" sz="2500" b="0" i="0" u="none" strike="noStrike" kern="1200" cap="none" spc="-117" normalizeH="0" baseline="0" noProof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uce"/>
                <a:ea typeface="+mn-ea"/>
                <a:cs typeface="+mn-cs"/>
              </a:rPr>
              <a:t>Patient-level splits and fairness audits are required first.</a:t>
            </a:r>
            <a:endParaRPr kumimoji="0" lang="en-US" sz="2500" b="0" i="0" u="none" strike="noStrike" kern="1200" cap="none" spc="-117" normalizeH="0" baseline="0" noProof="0">
              <a:ln>
                <a:noFill/>
              </a:ln>
              <a:solidFill>
                <a:srgbClr val="424242"/>
              </a:solidFill>
              <a:effectLst/>
              <a:uLnTx/>
              <a:uFillTx/>
              <a:latin typeface="Open Sauce"/>
              <a:ea typeface="+mn-ea"/>
              <a:cs typeface="+mn-cs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3529670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7201">
            <a:off x="8302125" y="-801031"/>
            <a:ext cx="12791303" cy="9442307"/>
          </a:xfrm>
          <a:custGeom>
            <a:avLst/>
            <a:gdLst/>
            <a:ahLst/>
            <a:cxnLst/>
            <a:rect l="l" t="t" r="r" b="b"/>
            <a:pathLst>
              <a:path w="12791303" h="9442307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3" name="Freeform 3"/>
          <p:cNvSpPr/>
          <p:nvPr/>
        </p:nvSpPr>
        <p:spPr>
          <a:xfrm rot="-10659522">
            <a:off x="-1466084" y="-1104127"/>
            <a:ext cx="6017764" cy="3599717"/>
          </a:xfrm>
          <a:custGeom>
            <a:avLst/>
            <a:gdLst/>
            <a:ahLst/>
            <a:cxnLst/>
            <a:rect l="l" t="t" r="r" b="b"/>
            <a:pathLst>
              <a:path w="6017764" h="3599717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4" name="Freeform 4"/>
          <p:cNvSpPr/>
          <p:nvPr/>
        </p:nvSpPr>
        <p:spPr>
          <a:xfrm>
            <a:off x="-924022" y="5188961"/>
            <a:ext cx="4716981" cy="6251420"/>
          </a:xfrm>
          <a:custGeom>
            <a:avLst/>
            <a:gdLst/>
            <a:ahLst/>
            <a:cxnLst/>
            <a:rect l="l" t="t" r="r" b="b"/>
            <a:pathLst>
              <a:path w="4716981" h="6251420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5" name="TextBox 5"/>
          <p:cNvSpPr txBox="1"/>
          <p:nvPr/>
        </p:nvSpPr>
        <p:spPr>
          <a:xfrm>
            <a:off x="1028700" y="3692569"/>
            <a:ext cx="9672886" cy="6055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5"/>
              </a:lnSpc>
            </a:pPr>
            <a:r>
              <a:rPr lang="en-US" sz="24569" b="1" spc="-1154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 You</a:t>
            </a:r>
          </a:p>
        </p:txBody>
      </p:sp>
      <p:sp>
        <p:nvSpPr>
          <p:cNvPr id="6" name="AutoShape 6"/>
          <p:cNvSpPr/>
          <p:nvPr/>
        </p:nvSpPr>
        <p:spPr>
          <a:xfrm>
            <a:off x="1045163" y="1480091"/>
            <a:ext cx="16214137" cy="0"/>
          </a:xfrm>
          <a:prstGeom prst="line">
            <a:avLst/>
          </a:prstGeom>
          <a:ln w="19050" cap="flat">
            <a:solidFill>
              <a:srgbClr val="42424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7" name="Freeform 7"/>
          <p:cNvSpPr/>
          <p:nvPr/>
        </p:nvSpPr>
        <p:spPr>
          <a:xfrm>
            <a:off x="953566" y="647822"/>
            <a:ext cx="644940" cy="644940"/>
          </a:xfrm>
          <a:custGeom>
            <a:avLst/>
            <a:gdLst/>
            <a:ahLst/>
            <a:cxnLst/>
            <a:rect l="l" t="t" r="r" b="b"/>
            <a:pathLst>
              <a:path w="644940" h="644940">
                <a:moveTo>
                  <a:pt x="0" y="0"/>
                </a:moveTo>
                <a:lnTo>
                  <a:pt x="644939" y="0"/>
                </a:lnTo>
                <a:lnTo>
                  <a:pt x="644939" y="644940"/>
                </a:lnTo>
                <a:lnTo>
                  <a:pt x="0" y="644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/>
          <p:cNvSpPr txBox="1"/>
          <p:nvPr/>
        </p:nvSpPr>
        <p:spPr>
          <a:xfrm>
            <a:off x="1675526" y="650408"/>
            <a:ext cx="7468474" cy="573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868"/>
              </a:lnSpc>
              <a:defRPr/>
            </a:pPr>
            <a:r>
              <a:rPr lang="en-US" sz="3477" b="1" spc="-163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Deep Learning for Visual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09146" y="622579"/>
            <a:ext cx="3450154" cy="28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68"/>
              </a:lnSpc>
            </a:pPr>
            <a:r>
              <a:rPr lang="en-US" sz="1800" b="1" spc="-100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09146" y="920227"/>
            <a:ext cx="3450154" cy="2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spc="-112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Bin Huang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1230</Words>
  <Application>Microsoft Macintosh PowerPoint</Application>
  <PresentationFormat>Custom</PresentationFormat>
  <Paragraphs>83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Open Sauce Light</vt:lpstr>
      <vt:lpstr>Open Sauce Bold</vt:lpstr>
      <vt:lpstr>Calibri</vt:lpstr>
      <vt:lpstr>Open Sauce Heavy</vt:lpstr>
      <vt:lpstr>Arial</vt:lpstr>
      <vt:lpstr>Aptos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and Grey Modern Startup Pitch Deck Presentation</dc:title>
  <cp:lastModifiedBy>Bin Huang</cp:lastModifiedBy>
  <cp:revision>2</cp:revision>
  <dcterms:created xsi:type="dcterms:W3CDTF">2006-08-16T00:00:00Z</dcterms:created>
  <dcterms:modified xsi:type="dcterms:W3CDTF">2026-10-25T09:33:41Z</dcterms:modified>
  <dc:identifier>DAHY_pvuZ4c</dc:identifier>
</cp:coreProperties>
</file>